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60593B-2997-4897-9202-65A2C26A3A7D}">
  <a:tblStyle styleId="{3A60593B-2997-4897-9202-65A2C26A3A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10589" y="2889944"/>
            <a:ext cx="6570821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Clarilux </a:t>
            </a:r>
            <a:r>
              <a:rPr b="1" i="0" lang="en-US" sz="63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Chatbot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67037" y="4055715"/>
            <a:ext cx="6257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Next-Gen Enterprise RAG Architecture powered by Gemini 3 Flash &amp; FastAPI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0212" y="2242244"/>
            <a:ext cx="11715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2816572"/>
            <a:ext cx="5048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Clarilux bridges the gap between raw conversational AI and proprietary data. By anchoring the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Gemini 3 Flash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model in verified organizational documents, we eliminate hallucinations.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4085183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provides a secure, fast, and scalable bridge for teams to query internal knowledge bases with sub-second latency.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805"/>
            <a:ext cx="5048250" cy="83442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Mission &amp; Intelligent Data 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2140"/>
            <a:ext cx="3365450" cy="348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22140"/>
            <a:ext cx="3365450" cy="348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22140"/>
            <a:ext cx="3365450" cy="3480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087914" y="3322290"/>
            <a:ext cx="271362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Intelligent Dialogue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52525" y="4217640"/>
            <a:ext cx="25844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Native conversational AI capabilities using Gemini's high-reasoning preview model.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39115" y="3322290"/>
            <a:ext cx="27136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Data Privacy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803725" y="3855690"/>
            <a:ext cx="25844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Local RAG execution ensures documents never leave the secure environment.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390315" y="3322290"/>
            <a:ext cx="27136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High Scalability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54925" y="3855690"/>
            <a:ext cx="25844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Containerized FastAPI backend built for enterprise concurrency.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6525" y="25507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25507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08926" y="25507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Strategic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190625" y="275852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FastAPI: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High-performance async backend for sub-second request handling.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90625" y="3545234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Gemini 3 Flash: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1M+ context window with frontier-level reasoning speeds.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433194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Docker: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Containerized deployment for environment parity across all clouds.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9662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833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37004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Enterprise Technical 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524500" y="2672655"/>
            <a:ext cx="11430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076575" y="3015555"/>
            <a:ext cx="634079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 &amp; Flow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076575" y="4025205"/>
            <a:ext cx="6038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deep dive into the RAG pipeline and retrieval logic.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62000" y="762000"/>
            <a:ext cx="4800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Modern RAG Pipeline Flow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62000" y="2286000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RAG architecture follows a structured four-stage process to ensure grounded answers: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238250" y="3158430"/>
            <a:ext cx="4048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Ingestion: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Reading .txt and .md files into memory.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238250" y="3670845"/>
            <a:ext cx="4048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Chunking with 250-word windows.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238250" y="4183260"/>
            <a:ext cx="4048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Retrieval: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Scoring based on query intersection.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238250" y="4695676"/>
            <a:ext cx="4048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Synthesis: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Prompt augmentation for the AI.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07927"/>
            <a:ext cx="5048250" cy="2308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07927"/>
            <a:ext cx="5048250" cy="230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1152525" y="3098452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1. Initialization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152525" y="3631852"/>
            <a:ext cx="4267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Loading env variables, validating API keys, creating the global chat session, and pre-loading document chunks into a high-speed memory cache.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772275" y="3098452"/>
            <a:ext cx="4480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2. Request Loop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772275" y="3631852"/>
            <a:ext cx="4267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Validation of user message, performing keyword scoring, building the RAG context prompt, and handling Gemini API retries.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Execution Lifecycle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73475"/>
            <a:ext cx="5048250" cy="73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6691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762000" y="2511325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Top 3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62000" y="3844825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Relevant Excerpts</a:t>
            </a:r>
            <a:endParaRPr/>
          </a:p>
        </p:txBody>
      </p:sp>
      <p:pic>
        <p:nvPicPr>
          <p:cNvPr descr="image.png" id="172" name="Google Shape;17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4759225"/>
            <a:ext cx="4476750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Proprietary Scoring Logic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21"/>
          <p:cNvGraphicFramePr/>
          <p:nvPr/>
        </p:nvGraphicFramePr>
        <p:xfrm>
          <a:off x="2595413" y="2484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{3A60593B-2997-4897-9202-65A2C26A3A7D}</a:tableStyleId>
              </a:tblPr>
              <a:tblGrid>
                <a:gridCol w="1486200"/>
                <a:gridCol w="1152525"/>
                <a:gridCol w="4362450"/>
              </a:tblGrid>
              <a:tr h="6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Serves the static web chatbot interface.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/api/chat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 inference endpoint for RAG &amp; Gemini logic.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/api/reset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Flushes history and initializes a new session.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1"/>
          <p:cNvSpPr/>
          <p:nvPr/>
        </p:nvSpPr>
        <p:spPr>
          <a:xfrm>
            <a:off x="2595413" y="3896617"/>
            <a:ext cx="14861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081611" y="3896617"/>
            <a:ext cx="1152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234136" y="3896617"/>
            <a:ext cx="4362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595413" y="4561433"/>
            <a:ext cx="14861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081611" y="4561433"/>
            <a:ext cx="1152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234136" y="4561433"/>
            <a:ext cx="4362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595413" y="5226248"/>
            <a:ext cx="14861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081611" y="5226248"/>
            <a:ext cx="1152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234136" y="5226248"/>
            <a:ext cx="4362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API Endpoint Registry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57387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96691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6810375" y="275852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Guarantees the same runtime environment on any server.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810375" y="3545234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Isolation: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Bundled dependencies ensure zero system conflicts.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810375" y="433194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Ready for Scale: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Simplified orchestration for AWS, Azure, or GCP.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79662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58333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37004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Dockerized Deployment Benefits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>
            <a:off x="762000" y="3862387"/>
            <a:ext cx="10668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703328" y="4100512"/>
            <a:ext cx="24642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Vector DB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762000" y="4633912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Transition to semantic embedding search.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3477037" y="2847082"/>
            <a:ext cx="24642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Multi-Tenant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3535709" y="3380482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Session-based isolation for parallel users.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250747" y="4100512"/>
            <a:ext cx="24642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Hot-Reload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6309419" y="4633912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file watchers for document updates.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024457" y="2847082"/>
            <a:ext cx="246421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Vision AI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9083129" y="3380482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Multimodal support for PDF and Image analysis.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762000" y="7620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Strategic Roadmap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1840185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613895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387604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10161314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3638550" y="2116484"/>
            <a:ext cx="51606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3638550" y="3545234"/>
            <a:ext cx="4914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time. Let's discuss the future of Clarilux.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3638550" y="4295775"/>
            <a:ext cx="491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